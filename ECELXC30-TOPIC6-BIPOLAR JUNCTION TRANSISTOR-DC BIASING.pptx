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80" r:id="rId16"/>
    <p:sldId id="277" r:id="rId17"/>
    <p:sldId id="281" r:id="rId18"/>
    <p:sldId id="278" r:id="rId19"/>
    <p:sldId id="283" r:id="rId20"/>
    <p:sldId id="282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9" r:id="rId36"/>
    <p:sldId id="298" r:id="rId37"/>
    <p:sldId id="300" r:id="rId38"/>
    <p:sldId id="301" r:id="rId39"/>
    <p:sldId id="302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nzales, Ivan Lawrence F." userId="S::gonzalesilf@students.nu-laguna.edu.ph::60a4c561-8693-4c50-ab26-39462b80257b" providerId="AD" clId="Web-{F774F821-1134-6B6B-E904-6458BE92B4E0}"/>
    <pc:docChg chg="mod">
      <pc:chgData name="Gonzales, Ivan Lawrence F." userId="S::gonzalesilf@students.nu-laguna.edu.ph::60a4c561-8693-4c50-ab26-39462b80257b" providerId="AD" clId="Web-{F774F821-1134-6B6B-E904-6458BE92B4E0}" dt="2026-01-14T19:10:38.028" v="0" actId="33475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4996C-59EB-4B3D-BAFB-54FD9A2B3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F16D97-0AE8-4463-9081-F4173A0CF1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5D372-88BD-4686-9531-59AB7CDF8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082A2-657D-49B4-AD86-905FE1907795}" type="datetimeFigureOut">
              <a:rPr lang="en-PH" smtClean="0"/>
              <a:t>25/01/2026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DF924-749F-4C5E-88E2-65FCE6D6A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44A57-13DF-45E9-8C4D-EC42AB0E7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729D6-73DE-4160-AC69-67870DC1FE4B}" type="slidenum">
              <a:rPr lang="en-PH" smtClean="0"/>
              <a:t>‹#›</a:t>
            </a:fld>
            <a:endParaRPr lang="en-PH"/>
          </a:p>
        </p:txBody>
      </p:sp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A9CD9BE0-5577-4461-808C-16575D706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866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75AC6-DF28-4958-9C99-71FDC0EB5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E482B-7F61-4681-8137-5A21E8D45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92930-3001-4939-AE29-04000DF4B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082A2-657D-49B4-AD86-905FE1907795}" type="datetimeFigureOut">
              <a:rPr lang="en-PH" smtClean="0"/>
              <a:t>25/01/2026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2BB7B-CC4B-4BC7-BDDC-0BEA73A95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4E315-710C-408F-B85B-161936C08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729D6-73DE-4160-AC69-67870DC1FE4B}" type="slidenum">
              <a:rPr lang="en-PH" smtClean="0"/>
              <a:t>‹#›</a:t>
            </a:fld>
            <a:endParaRPr lang="en-PH"/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BB204A89-FDD9-406F-9F3A-70FD3B783B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645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B32FA-CA1C-4B4A-88C9-0A5C9A611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F173E-27EE-4E98-9C89-CA7DC2232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C8BED-0B43-4FDB-8341-3419CE402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082A2-657D-49B4-AD86-905FE1907795}" type="datetimeFigureOut">
              <a:rPr lang="en-PH" smtClean="0"/>
              <a:t>25/01/2026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FFDD3-CBC3-4A86-9292-90BA1B778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A4807-E5B4-4C88-9358-50E88C79D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729D6-73DE-4160-AC69-67870DC1FE4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87312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0B54C-215C-41DF-9E6A-B44DD4D1C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73C8E-E6AE-4D37-A2F1-CA129A9E36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3AACB7-2BCD-42A2-96E4-E63645492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F611E0-5B86-44FE-BF96-7D47C6C3F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082A2-657D-49B4-AD86-905FE1907795}" type="datetimeFigureOut">
              <a:rPr lang="en-PH" smtClean="0"/>
              <a:t>25/01/2026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A3D3E2-6B9E-4DEF-AF84-BC9F96027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F5D58F-C51C-4E44-99A0-5E78C4337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729D6-73DE-4160-AC69-67870DC1FE4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45228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9CD09-0362-44E4-BF62-462B9D057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B7793-9F07-4FC8-BD9B-769D11117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046FC0-E3C0-4207-8BB5-5EA426051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DBF1C-5FF2-4152-8A3E-9EB772F988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C82F2B-CDC5-40C2-970E-5C90B5A278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3E78AB-C970-4680-8950-D4A9CAC0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082A2-657D-49B4-AD86-905FE1907795}" type="datetimeFigureOut">
              <a:rPr lang="en-PH" smtClean="0"/>
              <a:t>25/01/2026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3685CA-55F3-42CB-BA2F-9C5F8BC3C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E7F73D-7565-486A-9C61-63FC0EA77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729D6-73DE-4160-AC69-67870DC1FE4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51297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7A49B-FA8E-4946-AD5B-2A3D568A2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30F732-36E6-4809-B02A-8666B1881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082A2-657D-49B4-AD86-905FE1907795}" type="datetimeFigureOut">
              <a:rPr lang="en-PH" smtClean="0"/>
              <a:t>25/01/2026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95E65-255F-4133-882B-105EFF870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5E1730-B756-4DAA-96ED-5E51116D8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729D6-73DE-4160-AC69-67870DC1FE4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91865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7CF1BF-213A-4746-B3E1-67045672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082A2-657D-49B4-AD86-905FE1907795}" type="datetimeFigureOut">
              <a:rPr lang="en-PH" smtClean="0"/>
              <a:t>25/01/2026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F2FC94-FC3E-4F12-8B5B-585788731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EC09F-DC4E-455C-828B-3F8361CEC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729D6-73DE-4160-AC69-67870DC1FE4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72026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6D93A-5DA2-4C48-ABB4-3871B6218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9F9B9-3DC6-40C2-BD8B-E09B1A2C8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2C9A0-05F5-497A-9CBB-6EFA8D8E9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CC85A-4080-4C05-8F1E-1C8682916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082A2-657D-49B4-AD86-905FE1907795}" type="datetimeFigureOut">
              <a:rPr lang="en-PH" smtClean="0"/>
              <a:t>25/01/2026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4FA1A-D159-4D7F-9FBA-D204696EC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32EC1-D812-43C6-9385-A0D9191A2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729D6-73DE-4160-AC69-67870DC1FE4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56512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19AE8-F48C-42A8-9AFB-779AABEF5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3598B9-4DDB-42CF-8702-7865175AF7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23AB5F-A89F-4B83-8B57-614C2EE35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4D2A1-5DBE-41C7-B7CF-D585068DD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082A2-657D-49B4-AD86-905FE1907795}" type="datetimeFigureOut">
              <a:rPr lang="en-PH" smtClean="0"/>
              <a:t>25/01/2026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F3BB04-616F-4959-9282-8704BE84B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5B59B-41E9-416A-ADCC-79F679E3B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729D6-73DE-4160-AC69-67870DC1FE4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84133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5DD71-B492-4661-99F7-FF0FE478C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46BF03-90A2-49EE-941A-53E5BA3E8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EE881-60D1-4BA6-8C4F-E36FF5AE9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082A2-657D-49B4-AD86-905FE1907795}" type="datetimeFigureOut">
              <a:rPr lang="en-PH" smtClean="0"/>
              <a:t>25/01/2026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8D83D-56EF-4A35-B9D3-F07B5B218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941D6-8C90-43CA-8F4D-8DC2ACB37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729D6-73DE-4160-AC69-67870DC1FE4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72467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F6DEE8-C5ED-460C-AB1A-58CC7BCEFC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A4881A-700E-458F-BC02-A9818A2AD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AA5A2-B28E-4353-A189-F1C765B98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082A2-657D-49B4-AD86-905FE1907795}" type="datetimeFigureOut">
              <a:rPr lang="en-PH" smtClean="0"/>
              <a:t>25/01/2026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A4ECC-0157-4567-BDCA-E1510109E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AF880-26B3-403C-8917-5C4E09B87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729D6-73DE-4160-AC69-67870DC1FE4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25240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DC6768-3729-4237-8834-3469B0F8D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14FCF-C296-4455-8425-AEE896CB2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EC216-E173-47F7-9039-C663D53687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082A2-657D-49B4-AD86-905FE1907795}" type="datetimeFigureOut">
              <a:rPr lang="en-PH" smtClean="0"/>
              <a:t>25/01/2026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35C1B-F9A1-4EC0-BA15-65E9A4E838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45022-C757-438C-AFF7-D87D76E97A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729D6-73DE-4160-AC69-67870DC1FE4B}" type="slidenum">
              <a:rPr lang="en-PH" smtClean="0"/>
              <a:t>‹#›</a:t>
            </a:fld>
            <a:endParaRPr lang="en-PH"/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82EB269C-4C2C-4757-A5D8-8BED8B8E893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378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8729D-8FBC-6B5B-AE19-8E3D7BD9E2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1804" y="1064354"/>
            <a:ext cx="10848392" cy="2387600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C000"/>
                </a:solidFill>
              </a:rPr>
              <a:t>BIPOLAR JUNCTION TRANSISTOR (BJT) </a:t>
            </a:r>
            <a:br>
              <a:rPr lang="en-US" b="1">
                <a:solidFill>
                  <a:srgbClr val="FFC000"/>
                </a:solidFill>
              </a:rPr>
            </a:br>
            <a:r>
              <a:rPr lang="en-US" b="1">
                <a:solidFill>
                  <a:srgbClr val="FFC000"/>
                </a:solidFill>
              </a:rPr>
              <a:t>DC BIASING</a:t>
            </a:r>
            <a:endParaRPr lang="en-PH" b="1">
              <a:solidFill>
                <a:srgbClr val="FFC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767EDA-50ED-C839-C091-27F1129FB5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37884"/>
            <a:ext cx="9144000" cy="1655762"/>
          </a:xfrm>
        </p:spPr>
        <p:txBody>
          <a:bodyPr/>
          <a:lstStyle/>
          <a:p>
            <a:r>
              <a:rPr lang="en-PH"/>
              <a:t>ENGR. JOVETTE A. PECAYO</a:t>
            </a:r>
          </a:p>
          <a:p>
            <a:r>
              <a:rPr lang="en-PH"/>
              <a:t>INSTRUCTOR</a:t>
            </a:r>
          </a:p>
        </p:txBody>
      </p:sp>
    </p:spTree>
    <p:extLst>
      <p:ext uri="{BB962C8B-B14F-4D97-AF65-F5344CB8AC3E}">
        <p14:creationId xmlns:p14="http://schemas.microsoft.com/office/powerpoint/2010/main" val="2933486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BC284-F287-C274-D13E-64DC1C4B2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C000"/>
                </a:solidFill>
              </a:rPr>
              <a:t>BJT DC BIASING</a:t>
            </a:r>
            <a:endParaRPr lang="en-PH" b="1">
              <a:solidFill>
                <a:srgbClr val="FFC000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40ACD74-10CF-1F18-C1E9-350CE770DB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2630" y="1526301"/>
            <a:ext cx="3676650" cy="371475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3D26DDE-4620-B21A-EE18-F1E6E9375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27" y="2371758"/>
            <a:ext cx="7353300" cy="16097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2D61891-C62F-26A8-E6A0-47E583AD8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7200" y="1839913"/>
            <a:ext cx="3452673" cy="29039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9592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09640-9DB5-A8C2-34C2-4900EC318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86" y="18044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FFC000"/>
                </a:solidFill>
              </a:rPr>
              <a:t>BJT DC BIASING</a:t>
            </a:r>
            <a:endParaRPr lang="en-PH"/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9A54A0D3-E596-4D7A-847D-F3B895AA8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514" y="996640"/>
            <a:ext cx="3676650" cy="371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0F1868-F0CD-6ED2-CF56-7EEAF1577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02" y="1368115"/>
            <a:ext cx="7467600" cy="14382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599AF5-A361-E5AA-AEF1-C8FF1C65B77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7743"/>
          <a:stretch/>
        </p:blipFill>
        <p:spPr>
          <a:xfrm>
            <a:off x="486164" y="2830898"/>
            <a:ext cx="7496175" cy="20853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E442D9-0BF4-09CA-B348-08EA2282C2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3164" y="4916290"/>
            <a:ext cx="4829175" cy="8953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F816560-DD9D-C03F-CB3D-AC2E448CF8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2494" y="1182377"/>
            <a:ext cx="3686175" cy="4191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4326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62C8-684B-805E-6720-17986D5BD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C000"/>
                </a:solidFill>
              </a:rPr>
              <a:t>BJT DC BIASING</a:t>
            </a:r>
            <a:endParaRPr lang="en-PH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DA9DFA8-87E3-7795-BFDE-F06673737A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1038" y="1758156"/>
            <a:ext cx="7639050" cy="3952875"/>
          </a:xfrm>
        </p:spPr>
      </p:pic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0565D924-9D31-F782-7E98-4FBAA4F4C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514" y="1386681"/>
            <a:ext cx="3676650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55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96BD1C-E0CF-7466-67AD-E09B3A9769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6420" y="2024937"/>
            <a:ext cx="7515225" cy="2266950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F74C7EA-C7F4-A4B6-8C7A-207A71DD5572}"/>
              </a:ext>
            </a:extLst>
          </p:cNvPr>
          <p:cNvSpPr txBox="1">
            <a:spLocks/>
          </p:cNvSpPr>
          <p:nvPr/>
        </p:nvSpPr>
        <p:spPr>
          <a:xfrm>
            <a:off x="838199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FFC000"/>
                </a:solidFill>
              </a:rPr>
              <a:t>BJT DC BIASING</a:t>
            </a:r>
            <a:endParaRPr lang="en-PH"/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A36BBE25-551C-EB68-B427-838752598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514" y="1139825"/>
            <a:ext cx="3676650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145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99F568-F1B7-74C2-ECBF-B2D9C2788F6C}"/>
              </a:ext>
            </a:extLst>
          </p:cNvPr>
          <p:cNvSpPr txBox="1">
            <a:spLocks/>
          </p:cNvSpPr>
          <p:nvPr/>
        </p:nvSpPr>
        <p:spPr>
          <a:xfrm>
            <a:off x="838199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FFC000"/>
                </a:solidFill>
              </a:rPr>
              <a:t>BJT DC BIASING</a:t>
            </a:r>
            <a:endParaRPr lang="en-PH"/>
          </a:p>
        </p:txBody>
      </p:sp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71BC23FA-19A6-AFCC-1DF2-409FD8388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514" y="1139825"/>
            <a:ext cx="3676650" cy="371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1747D4-7972-6404-C79B-F21B4F2C0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27" y="1952625"/>
            <a:ext cx="7410450" cy="2952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5E3F6E-CAC6-01F3-876D-24CB6C8D7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649" y="1139825"/>
            <a:ext cx="2724150" cy="4286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9468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7350652-213B-F2E1-C144-245E86B359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3117" y="1235253"/>
            <a:ext cx="5785854" cy="3853847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17CDCE2-E204-5033-F575-B3F69414649B}"/>
              </a:ext>
            </a:extLst>
          </p:cNvPr>
          <p:cNvSpPr txBox="1">
            <a:spLocks/>
          </p:cNvSpPr>
          <p:nvPr/>
        </p:nvSpPr>
        <p:spPr>
          <a:xfrm>
            <a:off x="838199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FFC000"/>
                </a:solidFill>
              </a:rPr>
              <a:t>EXAMPLE NUMBER 1: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56655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89F1D-B58D-A48F-9F68-A467A0F7E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C000"/>
                </a:solidFill>
              </a:rPr>
              <a:t>SOLUTION: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DE596-7120-768B-B63B-460CE1187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71300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B14AB3-AA95-1BFA-D498-D8A383610C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0232" y="1914153"/>
            <a:ext cx="7467600" cy="3371850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F4926D1-FB6B-254D-1713-FB30E36B89DB}"/>
              </a:ext>
            </a:extLst>
          </p:cNvPr>
          <p:cNvSpPr txBox="1">
            <a:spLocks/>
          </p:cNvSpPr>
          <p:nvPr/>
        </p:nvSpPr>
        <p:spPr>
          <a:xfrm>
            <a:off x="838199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FFC000"/>
                </a:solidFill>
              </a:rPr>
              <a:t>BJT DC BIASING</a:t>
            </a:r>
            <a:endParaRPr lang="en-PH"/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68B8CD25-9F99-80AF-8283-C7509A201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514" y="1139825"/>
            <a:ext cx="3676650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381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58FAE05-83F8-CAFE-2DBF-845E8247C4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6620" y="1600685"/>
            <a:ext cx="8138759" cy="3503159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34D61A-06B1-B7EA-24F5-9F7A0582C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21" y="1018381"/>
            <a:ext cx="4324350" cy="37147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F1CD6CB-77D9-FDFE-0947-C1408B223E55}"/>
              </a:ext>
            </a:extLst>
          </p:cNvPr>
          <p:cNvSpPr txBox="1">
            <a:spLocks/>
          </p:cNvSpPr>
          <p:nvPr/>
        </p:nvSpPr>
        <p:spPr>
          <a:xfrm>
            <a:off x="838199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FFC000"/>
                </a:solidFill>
              </a:rPr>
              <a:t>BJT DC BIASING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19393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F88BE-ED26-51AC-0F11-17EFC05A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C000"/>
                </a:solidFill>
              </a:rPr>
              <a:t>EXAMPLE NUMBER 2: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12737-D806-342C-1A80-0A2610F91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For the figure below, find the following:</a:t>
            </a:r>
          </a:p>
          <a:p>
            <a:pPr marL="0" indent="0">
              <a:buNone/>
            </a:pPr>
            <a:endParaRPr lang="en-P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0C5D1E-A88C-049D-98F0-38EF7411E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68810"/>
            <a:ext cx="2875384" cy="6739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D9B01F-99EA-F18A-AE66-013B34C56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760" y="2933311"/>
            <a:ext cx="4572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067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89F1D-B58D-A48F-9F68-A467A0F7E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C000"/>
                </a:solidFill>
              </a:rPr>
              <a:t>SOLUTION: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DE596-7120-768B-B63B-460CE1187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15237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01D92-CA59-73BB-934E-913DDA5A4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C000"/>
                </a:solidFill>
              </a:rPr>
              <a:t>EXAMPLE NUMBER 3: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92C47-3B7B-C0F0-1A6B-DAAE0E087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For the figure below, find </a:t>
            </a:r>
            <a:r>
              <a:rPr lang="en-US" err="1"/>
              <a:t>Vc</a:t>
            </a:r>
            <a:r>
              <a:rPr lang="en-US"/>
              <a:t> and V</a:t>
            </a:r>
            <a:r>
              <a:rPr lang="en-US" sz="1800"/>
              <a:t>B </a:t>
            </a:r>
            <a:r>
              <a:rPr lang="en-US" sz="4800"/>
              <a:t>.</a:t>
            </a:r>
            <a:endParaRPr lang="en-P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9F721B-87D5-80E4-4900-BC3BFDD8B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104" y="2397967"/>
            <a:ext cx="4707237" cy="329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825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89F1D-B58D-A48F-9F68-A467A0F7E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C000"/>
                </a:solidFill>
              </a:rPr>
              <a:t>SOLUTION: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DE596-7120-768B-B63B-460CE1187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43007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226B9-DF39-83E0-4B90-8F3D297FA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C000"/>
                </a:solidFill>
              </a:rPr>
              <a:t>EXAMPLE NUMBER 4: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68BAB-4E7A-448D-C092-A1226ED5A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Determine V</a:t>
            </a:r>
            <a:r>
              <a:rPr lang="en-US" sz="1800"/>
              <a:t>CEQ</a:t>
            </a:r>
            <a:r>
              <a:rPr lang="en-US"/>
              <a:t> and I</a:t>
            </a:r>
            <a:r>
              <a:rPr lang="en-US" sz="1800"/>
              <a:t>E</a:t>
            </a:r>
            <a:r>
              <a:rPr lang="en-US"/>
              <a:t> for the network:</a:t>
            </a:r>
            <a:endParaRPr lang="en-P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D394C7-B6C9-7778-0563-10C88CF54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780" y="2987253"/>
            <a:ext cx="5029200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382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89F1D-B58D-A48F-9F68-A467A0F7E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C000"/>
                </a:solidFill>
              </a:rPr>
              <a:t>SOLUTION: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DE596-7120-768B-B63B-460CE1187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33244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E39716B-7F8B-5513-9457-068B5F5977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5803" y="1788481"/>
            <a:ext cx="8061295" cy="3669928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BF9932-876C-A1F7-0C3F-311BD2703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041" y="1106488"/>
            <a:ext cx="2295525" cy="4381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A674BB7-5D5B-D650-34AF-9ED688896406}"/>
              </a:ext>
            </a:extLst>
          </p:cNvPr>
          <p:cNvSpPr txBox="1">
            <a:spLocks/>
          </p:cNvSpPr>
          <p:nvPr/>
        </p:nvSpPr>
        <p:spPr>
          <a:xfrm>
            <a:off x="838199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FFC000"/>
                </a:solidFill>
              </a:rPr>
              <a:t>BJT DC BIASING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01539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5B28522-3726-A6CA-CB5D-6D31B7BAF2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8721" y="1741520"/>
            <a:ext cx="7353300" cy="3524250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7D446C6-CE61-F617-5BF4-E4C4223154B7}"/>
              </a:ext>
            </a:extLst>
          </p:cNvPr>
          <p:cNvSpPr txBox="1">
            <a:spLocks/>
          </p:cNvSpPr>
          <p:nvPr/>
        </p:nvSpPr>
        <p:spPr>
          <a:xfrm>
            <a:off x="838199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FFC000"/>
                </a:solidFill>
              </a:rPr>
              <a:t>BJT DC BIASING</a:t>
            </a:r>
            <a:endParaRPr lang="en-P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AC6197-AF8E-CDB4-69F1-BF8B9F4FC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041" y="1106488"/>
            <a:ext cx="2295525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546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FECAA-E7ED-BC52-CB95-3503A382E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C000"/>
                </a:solidFill>
              </a:rPr>
              <a:t>EXAMPLE NUMBER 5: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B5171-7BA0-6940-84D7-AC8CFC745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Given the characteristics, determine V</a:t>
            </a:r>
            <a:r>
              <a:rPr lang="en-US" sz="1800"/>
              <a:t>CC</a:t>
            </a:r>
            <a:r>
              <a:rPr lang="en-US"/>
              <a:t>, R</a:t>
            </a:r>
            <a:r>
              <a:rPr lang="en-US" sz="1800"/>
              <a:t>B</a:t>
            </a:r>
            <a:r>
              <a:rPr lang="en-US"/>
              <a:t> and R</a:t>
            </a:r>
            <a:r>
              <a:rPr lang="en-US" sz="1800"/>
              <a:t>C</a:t>
            </a:r>
            <a:r>
              <a:rPr lang="en-US"/>
              <a:t> for the fixed bias configuration.</a:t>
            </a:r>
            <a:endParaRPr lang="en-P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F74CA7-DF62-9D01-DDC1-8738579DE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438" y="2834853"/>
            <a:ext cx="5295900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657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3C2E9-125A-5211-036E-C352C3C8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C000"/>
                </a:solidFill>
              </a:rPr>
              <a:t>SOLUTION: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A8B82-D9AE-21F7-E5B5-893D019B5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22367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ED769-BE92-0F4B-AD1D-D6E20CDBF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C000"/>
                </a:solidFill>
              </a:rPr>
              <a:t>BJT DC BIASING</a:t>
            </a:r>
            <a:br>
              <a:rPr lang="en-PH"/>
            </a:br>
            <a:endParaRPr lang="en-PH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767895-2D87-BED0-B811-E9635668C3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8526" y="1242510"/>
            <a:ext cx="8461169" cy="4066608"/>
          </a:xfrm>
        </p:spPr>
      </p:pic>
    </p:spTree>
    <p:extLst>
      <p:ext uri="{BB962C8B-B14F-4D97-AF65-F5344CB8AC3E}">
        <p14:creationId xmlns:p14="http://schemas.microsoft.com/office/powerpoint/2010/main" val="32699234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196A90-F365-6798-4B8A-8861F8D6D1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7429" y="2371725"/>
            <a:ext cx="7267575" cy="2114550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A840AD6-10D9-DB0B-8162-310AEBFDF327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FFC000"/>
                </a:solidFill>
              </a:rPr>
              <a:t>BJT DC BIASING</a:t>
            </a:r>
            <a:br>
              <a:rPr lang="en-PH"/>
            </a:br>
            <a:endParaRPr lang="en-PH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000BE6-754F-870C-90A0-E3D90CCEA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402" y="1744824"/>
            <a:ext cx="4040969" cy="30794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2192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F64B4-53ED-4C9B-1E92-F288CBF38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FFC000"/>
                </a:solidFill>
              </a:rPr>
              <a:t>EXAMPLE NUMBER 6: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A856D-BEC7-6360-C008-73387563C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Determine the resistor values for the network in the figure below for the indicated operating point and voltage supply. </a:t>
            </a:r>
            <a:endParaRPr lang="en-P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44CB90-D604-C836-1631-E3C456C43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982" y="2626109"/>
            <a:ext cx="4276336" cy="306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6778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C364F-6AD5-137E-7509-88AA84735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FFC000"/>
                </a:solidFill>
              </a:rPr>
              <a:t>BJT DC BIASING</a:t>
            </a:r>
            <a:br>
              <a:rPr lang="en-PH"/>
            </a:br>
            <a:endParaRPr lang="en-PH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B83E65D-6261-59ED-790D-1655C57694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7491" y="1690688"/>
            <a:ext cx="7277100" cy="1990725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DC79B2-6AF9-0810-7F7C-CCE31E77C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629" y="1027906"/>
            <a:ext cx="3971925" cy="381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017C87-5C12-E1B8-FE14-6C5EF4830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3941" y="3429000"/>
            <a:ext cx="5884117" cy="22679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294504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F2870-FDCB-F0CD-E322-C85D7F69E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C000"/>
                </a:solidFill>
              </a:rPr>
              <a:t>BJT DC BIASING</a:t>
            </a:r>
            <a:br>
              <a:rPr lang="en-PH"/>
            </a:br>
            <a:endParaRPr lang="en-PH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6484FED-FC70-48FD-C938-E0C99D066C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7662" y="1478756"/>
            <a:ext cx="5954080" cy="4351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8434119-3782-A334-BD59-FDD626264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629" y="1027906"/>
            <a:ext cx="3971925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6554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7EE0D-13BE-0B96-6FF8-B809B017B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C000"/>
                </a:solidFill>
              </a:rPr>
              <a:t>BJT DC BIASING</a:t>
            </a:r>
            <a:br>
              <a:rPr lang="en-PH"/>
            </a:br>
            <a:endParaRPr lang="en-PH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559A22-C4E8-62B9-3010-57201A5827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9428" y="1846416"/>
            <a:ext cx="7732892" cy="2352172"/>
          </a:xfrm>
        </p:spPr>
      </p:pic>
    </p:spTree>
    <p:extLst>
      <p:ext uri="{BB962C8B-B14F-4D97-AF65-F5344CB8AC3E}">
        <p14:creationId xmlns:p14="http://schemas.microsoft.com/office/powerpoint/2010/main" val="19811026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50DDB-CF28-1E71-CFF6-1094873FB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C000"/>
                </a:solidFill>
              </a:rPr>
              <a:t>BJT DC BIASING</a:t>
            </a:r>
            <a:br>
              <a:rPr lang="en-PH"/>
            </a:br>
            <a:endParaRPr lang="en-PH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CC68B68-0D5F-FF92-A34E-9110E71CE0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2123" y="1785565"/>
            <a:ext cx="7477125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9129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2245C-58B6-5E75-AA98-357E5EB98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C000"/>
                </a:solidFill>
              </a:rPr>
              <a:t>BJT DC BIASING</a:t>
            </a:r>
            <a:br>
              <a:rPr lang="en-PH"/>
            </a:br>
            <a:endParaRPr lang="en-PH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F47493-B694-B768-D80C-F822685805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7912" y="1690688"/>
            <a:ext cx="7496175" cy="3695700"/>
          </a:xfrm>
        </p:spPr>
      </p:pic>
    </p:spTree>
    <p:extLst>
      <p:ext uri="{BB962C8B-B14F-4D97-AF65-F5344CB8AC3E}">
        <p14:creationId xmlns:p14="http://schemas.microsoft.com/office/powerpoint/2010/main" val="5034766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F032B-1252-2732-0890-B878C4ED6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C000"/>
                </a:solidFill>
              </a:rPr>
              <a:t>BJT DC BIASING</a:t>
            </a:r>
            <a:br>
              <a:rPr lang="en-PH"/>
            </a:br>
            <a:endParaRPr lang="en-PH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48F9CF-984F-7D0B-801A-C182AC38B7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2644" y="1480765"/>
            <a:ext cx="7553325" cy="4238625"/>
          </a:xfrm>
        </p:spPr>
      </p:pic>
    </p:spTree>
    <p:extLst>
      <p:ext uri="{BB962C8B-B14F-4D97-AF65-F5344CB8AC3E}">
        <p14:creationId xmlns:p14="http://schemas.microsoft.com/office/powerpoint/2010/main" val="16706400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06819-9AFE-E79D-6B36-0CBDBF061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C000"/>
                </a:solidFill>
              </a:rPr>
              <a:t>BJT DC BIASING</a:t>
            </a:r>
            <a:br>
              <a:rPr lang="en-PH"/>
            </a:br>
            <a:endParaRPr lang="en-PH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239ECD-CCE2-E1DA-5D38-241B1DFAE8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2941" y="1290735"/>
            <a:ext cx="7515225" cy="26670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ED7962-91D7-5A21-31E2-802D0F503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941" y="3957735"/>
            <a:ext cx="745807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0973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D4ED8-CA84-4F3A-8309-AF73C52C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C000"/>
                </a:solidFill>
              </a:rPr>
              <a:t>EXAMPLE NUMBER 7: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1B3A1-644B-4259-2B2F-34D6696AA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Determine R</a:t>
            </a:r>
            <a:r>
              <a:rPr lang="en-US" sz="2000"/>
              <a:t>B</a:t>
            </a:r>
            <a:r>
              <a:rPr lang="en-US"/>
              <a:t> and R</a:t>
            </a:r>
            <a:r>
              <a:rPr lang="en-US" sz="2000"/>
              <a:t>C</a:t>
            </a:r>
            <a:r>
              <a:rPr lang="en-US"/>
              <a:t> for the transistor inverter in the figure below. </a:t>
            </a:r>
            <a:r>
              <a:rPr lang="en-US" err="1"/>
              <a:t>Ic</a:t>
            </a:r>
            <a:r>
              <a:rPr lang="en-US" sz="2000" err="1"/>
              <a:t>sat</a:t>
            </a:r>
            <a:r>
              <a:rPr lang="en-US"/>
              <a:t>=10mA</a:t>
            </a:r>
            <a:endParaRPr lang="en-P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38C5C6-559C-10C2-8C28-09AD567E3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729" y="2772569"/>
            <a:ext cx="7353300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6998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3C2E9-125A-5211-036E-C352C3C8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C000"/>
                </a:solidFill>
              </a:rPr>
              <a:t>SOLUTION: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A8B82-D9AE-21F7-E5B5-893D019B5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585296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4B740-02C2-D3B3-D7CF-A1D2058AB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C000"/>
                </a:solidFill>
              </a:rPr>
              <a:t>BJT DC BIASING</a:t>
            </a:r>
            <a:br>
              <a:rPr lang="en-PH"/>
            </a:br>
            <a:endParaRPr lang="en-PH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9E5AD23-CD68-C19F-777D-132A467556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20373"/>
          <a:stretch/>
        </p:blipFill>
        <p:spPr>
          <a:xfrm>
            <a:off x="1179814" y="1564367"/>
            <a:ext cx="7233759" cy="3660775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041B88-21CE-E6CF-0306-06735FD75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440" y="1027906"/>
            <a:ext cx="1962150" cy="352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5FED3C-2F10-4A8A-E518-0B19F72A5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8766" y="5169841"/>
            <a:ext cx="4810125" cy="8477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4349ED-AF8B-D85C-9762-FEE2B93B55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6661" y="549534"/>
            <a:ext cx="2600325" cy="42100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258896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264F0-8B16-A37C-AC2F-514C3E5CC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FFC000"/>
                </a:solidFill>
              </a:rPr>
              <a:t>BJT DC BIASING</a:t>
            </a:r>
            <a:br>
              <a:rPr lang="en-PH"/>
            </a:br>
            <a:endParaRPr lang="en-PH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ABF21F-1187-6337-CA61-6FC2C4A07F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4701" y="1860404"/>
            <a:ext cx="7296150" cy="3609975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8C6193-9FDA-3548-C1E7-C6C8CF301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440" y="1027906"/>
            <a:ext cx="1962150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3768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F2E8F-4FA7-133F-6F81-677FE4A7D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Determine V</a:t>
            </a:r>
            <a:r>
              <a:rPr lang="en-US" sz="1800"/>
              <a:t>CE</a:t>
            </a:r>
            <a:r>
              <a:rPr lang="en-US"/>
              <a:t>  for the voltage divider bias configuration.</a:t>
            </a:r>
            <a:endParaRPr lang="en-PH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8A82887-8635-3D00-87BB-6515A2A3D59F}"/>
              </a:ext>
            </a:extLst>
          </p:cNvPr>
          <p:cNvSpPr txBox="1">
            <a:spLocks/>
          </p:cNvSpPr>
          <p:nvPr/>
        </p:nvSpPr>
        <p:spPr>
          <a:xfrm>
            <a:off x="838200" y="36512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FFC000"/>
                </a:solidFill>
              </a:rPr>
              <a:t>EXAMPLE NUMBER 8:</a:t>
            </a:r>
            <a:br>
              <a:rPr lang="en-PH"/>
            </a:br>
            <a:endParaRPr lang="en-P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E06A98-3773-BC29-BD7C-70EE896F5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4791" y="2594493"/>
            <a:ext cx="476250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0552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C08A2-1D48-5805-F0A5-E35CD3088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C000"/>
                </a:solidFill>
              </a:rPr>
              <a:t>SOLUTION: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B7956-25A3-352B-B2E3-262F262BA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7845466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28940A7FE5AD4EBEC99F3B04C02760" ma:contentTypeVersion="3" ma:contentTypeDescription="Create a new document." ma:contentTypeScope="" ma:versionID="959f18dc2dd92b79577e4a6332fb3469">
  <xsd:schema xmlns:xsd="http://www.w3.org/2001/XMLSchema" xmlns:xs="http://www.w3.org/2001/XMLSchema" xmlns:p="http://schemas.microsoft.com/office/2006/metadata/properties" xmlns:ns2="91840c8d-a381-4d3b-8568-712e12d4a192" targetNamespace="http://schemas.microsoft.com/office/2006/metadata/properties" ma:root="true" ma:fieldsID="ec97fbacc4595d175aaa61f798be15ca" ns2:_="">
    <xsd:import namespace="91840c8d-a381-4d3b-8568-712e12d4a19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840c8d-a381-4d3b-8568-712e12d4a1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617452D-A622-4CD9-8789-11C8DB0AC05A}">
  <ds:schemaRefs>
    <ds:schemaRef ds:uri="91840c8d-a381-4d3b-8568-712e12d4a19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BABB09B-B395-4D51-B05B-5EFAFE87E6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CD4304-36E9-4947-909A-8BB4FFC9C22E}">
  <ds:schemaRefs>
    <ds:schemaRef ds:uri="61eb49b4-9712-49d4-90f2-22acd1b124fb"/>
    <ds:schemaRef ds:uri="d48d4d33-f4db-4d7e-a2af-b7a9ac1bd82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1_Office Theme</vt:lpstr>
      <vt:lpstr>BIPOLAR JUNCTION TRANSISTOR (BJT)  DC BIASING</vt:lpstr>
      <vt:lpstr>BJT DC BIASING</vt:lpstr>
      <vt:lpstr>BJT DC BIASING</vt:lpstr>
      <vt:lpstr>BJT DC BIASING</vt:lpstr>
      <vt:lpstr>PowerPoint Presentation</vt:lpstr>
      <vt:lpstr>PowerPoint Presentation</vt:lpstr>
      <vt:lpstr>PowerPoint Presentation</vt:lpstr>
      <vt:lpstr>SOLUTION:</vt:lpstr>
      <vt:lpstr>PowerPoint Presentation</vt:lpstr>
      <vt:lpstr>PowerPoint Presentation</vt:lpstr>
      <vt:lpstr>EXAMPLE NUMBER 2:</vt:lpstr>
      <vt:lpstr>SOLUTION:</vt:lpstr>
      <vt:lpstr>EXAMPLE NUMBER 3:</vt:lpstr>
      <vt:lpstr>SOLUTION:</vt:lpstr>
      <vt:lpstr>EXAMPLE NUMBER 4:</vt:lpstr>
      <vt:lpstr>SOLUTION:</vt:lpstr>
      <vt:lpstr>PowerPoint Presentation</vt:lpstr>
      <vt:lpstr>PowerPoint Presentation</vt:lpstr>
      <vt:lpstr>EXAMPLE NUMBER 5:</vt:lpstr>
      <vt:lpstr>SOLUTION:</vt:lpstr>
      <vt:lpstr>BJT DC BIASING </vt:lpstr>
      <vt:lpstr>PowerPoint Presentation</vt:lpstr>
      <vt:lpstr>EXAMPLE NUMBER 6:</vt:lpstr>
      <vt:lpstr>BJT DC BIASING </vt:lpstr>
      <vt:lpstr>BJT DC BIASING </vt:lpstr>
      <vt:lpstr>BJT DC BIASING </vt:lpstr>
      <vt:lpstr>BJT DC BIASING </vt:lpstr>
      <vt:lpstr>BJT DC BIASING </vt:lpstr>
      <vt:lpstr>BJT DC BIASING </vt:lpstr>
      <vt:lpstr>BJT DC BIASING </vt:lpstr>
      <vt:lpstr>EXAMPLE NUMBER 7:</vt:lpstr>
      <vt:lpstr>SOLUTION:</vt:lpstr>
      <vt:lpstr>BJT DC BIASING </vt:lpstr>
      <vt:lpstr>BJT DC BIASING </vt:lpstr>
      <vt:lpstr>PowerPoint Presentation</vt:lpstr>
      <vt:lpstr>SOLUTION: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Nina San Miguel</dc:creator>
  <cp:revision>2</cp:revision>
  <dcterms:created xsi:type="dcterms:W3CDTF">2021-08-09T09:12:09Z</dcterms:created>
  <dcterms:modified xsi:type="dcterms:W3CDTF">2026-01-26T01:14:51Z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0x010100E428940A7FE5AD4EBEC99F3B04C02760</vt:lpwstr>
  </property>
  <property fmtid="{D5CDD505-2E9C-101B-9397-08002B2CF9AE}" pid="3" name="MSIP_Label_8a813f4b-519a-4481-a498-85770f517757_Enabled">
    <vt:lpwstr>true</vt:lpwstr>
  </property>
  <property fmtid="{D5CDD505-2E9C-101B-9397-08002B2CF9AE}" pid="4" name="MSIP_Label_8a813f4b-519a-4481-a498-85770f517757_SetDate">
    <vt:lpwstr>2026-01-14T19:10:38Z</vt:lpwstr>
  </property>
  <property fmtid="{D5CDD505-2E9C-101B-9397-08002B2CF9AE}" pid="5" name="MSIP_Label_8a813f4b-519a-4481-a498-85770f517757_Method">
    <vt:lpwstr>Standard</vt:lpwstr>
  </property>
  <property fmtid="{D5CDD505-2E9C-101B-9397-08002B2CF9AE}" pid="6" name="MSIP_Label_8a813f4b-519a-4481-a498-85770f517757_Name">
    <vt:lpwstr>Anyone (unrestricted)</vt:lpwstr>
  </property>
  <property fmtid="{D5CDD505-2E9C-101B-9397-08002B2CF9AE}" pid="7" name="MSIP_Label_8a813f4b-519a-4481-a498-85770f517757_SiteId">
    <vt:lpwstr>1d981f77-3ca3-46ae-b0d4-e8044e6c7f84</vt:lpwstr>
  </property>
  <property fmtid="{D5CDD505-2E9C-101B-9397-08002B2CF9AE}" pid="8" name="MSIP_Label_8a813f4b-519a-4481-a498-85770f517757_ActionId">
    <vt:lpwstr>f57b7ca7-364b-499e-9be2-50ca955805a6</vt:lpwstr>
  </property>
  <property fmtid="{D5CDD505-2E9C-101B-9397-08002B2CF9AE}" pid="9" name="MSIP_Label_8a813f4b-519a-4481-a498-85770f517757_ContentBits">
    <vt:lpwstr>0</vt:lpwstr>
  </property>
  <property fmtid="{D5CDD505-2E9C-101B-9397-08002B2CF9AE}" pid="10" name="MSIP_Label_8a813f4b-519a-4481-a498-85770f517757_Tag">
    <vt:lpwstr>10, 3, 0, 2</vt:lpwstr>
  </property>
</Properties>
</file>